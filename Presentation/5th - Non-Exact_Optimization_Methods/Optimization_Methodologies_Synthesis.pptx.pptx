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3599" autoAdjust="0"/>
  </p:normalViewPr>
  <p:slideViewPr>
    <p:cSldViewPr>
      <p:cViewPr varScale="1">
        <p:scale>
          <a:sx n="31" d="100"/>
          <a:sy n="31" d="100"/>
        </p:scale>
        <p:origin x="224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205A5-FCCF-453D-9EFD-AD4ACF419914}"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FF90DA-3246-4920-9D9C-B43869309475}" type="slidenum">
              <a:rPr lang="en-US" smtClean="0"/>
              <a:t>‹#›</a:t>
            </a:fld>
            <a:endParaRPr lang="en-US"/>
          </a:p>
        </p:txBody>
      </p:sp>
    </p:spTree>
    <p:extLst>
      <p:ext uri="{BB962C8B-B14F-4D97-AF65-F5344CB8AC3E}">
        <p14:creationId xmlns:p14="http://schemas.microsoft.com/office/powerpoint/2010/main" val="4175503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Start with the problem</a:t>
            </a:r>
          </a:p>
          <a:p>
            <a:r>
              <a:rPr lang="en-US" dirty="0"/>
              <a:t>“For many important problems, especially NP-hard ones, finding the exact optimal solution takes </a:t>
            </a:r>
            <a:r>
              <a:rPr lang="en-US" b="1" dirty="0"/>
              <a:t>exponential time</a:t>
            </a:r>
            <a:r>
              <a:rPr lang="en-US" dirty="0"/>
              <a:t>.”</a:t>
            </a:r>
          </a:p>
          <a:p>
            <a:r>
              <a:rPr lang="en-US" dirty="0"/>
              <a:t>👉 Meaning:</a:t>
            </a:r>
          </a:p>
          <a:p>
            <a:pPr>
              <a:buFont typeface="Arial" panose="020B0604020202020204" pitchFamily="34" charset="0"/>
              <a:buChar char="•"/>
            </a:pPr>
            <a:r>
              <a:rPr lang="en-US" dirty="0"/>
              <a:t>Works for small inputs ❌ </a:t>
            </a:r>
          </a:p>
          <a:p>
            <a:pPr>
              <a:buFont typeface="Arial" panose="020B0604020202020204" pitchFamily="34" charset="0"/>
              <a:buChar char="•"/>
            </a:pPr>
            <a:r>
              <a:rPr lang="en-US" dirty="0"/>
              <a:t>Becomes impossible for large inputs ❌ </a:t>
            </a:r>
          </a:p>
          <a:p>
            <a:endParaRPr lang="en-US" b="1" dirty="0"/>
          </a:p>
          <a:p>
            <a:endParaRPr lang="en-US" b="1" dirty="0"/>
          </a:p>
          <a:p>
            <a:endParaRPr lang="en-US" b="1" dirty="0"/>
          </a:p>
          <a:p>
            <a:r>
              <a:rPr lang="en-US" b="1" dirty="0"/>
              <a:t>📏 Why approximation algorithms?</a:t>
            </a:r>
          </a:p>
          <a:p>
            <a:pPr>
              <a:buFont typeface="Arial" panose="020B0604020202020204" pitchFamily="34" charset="0"/>
              <a:buChar char="•"/>
            </a:pPr>
            <a:r>
              <a:rPr lang="en-US" dirty="0"/>
              <a:t>Provide </a:t>
            </a:r>
            <a:r>
              <a:rPr lang="en-US" b="1" dirty="0"/>
              <a:t>guarantees on solution quality</a:t>
            </a:r>
            <a:r>
              <a:rPr lang="en-US" dirty="0"/>
              <a:t> </a:t>
            </a:r>
          </a:p>
          <a:p>
            <a:r>
              <a:rPr lang="en-US" dirty="0"/>
              <a:t>Example:</a:t>
            </a:r>
          </a:p>
          <a:p>
            <a:pPr>
              <a:buFont typeface="Arial" panose="020B0604020202020204" pitchFamily="34" charset="0"/>
              <a:buChar char="•"/>
            </a:pPr>
            <a:r>
              <a:rPr lang="en-US" dirty="0"/>
              <a:t>“At most 2× worse than optimal” </a:t>
            </a:r>
          </a:p>
          <a:p>
            <a:r>
              <a:rPr lang="en-US" dirty="0"/>
              <a:t>✔ Fast (polynomial time)</a:t>
            </a:r>
            <a:br>
              <a:rPr lang="en-US" dirty="0"/>
            </a:br>
            <a:r>
              <a:rPr lang="en-US" dirty="0"/>
              <a:t>✔ Mathematical guarantee</a:t>
            </a:r>
            <a:br>
              <a:rPr lang="en-US" dirty="0"/>
            </a:br>
            <a:r>
              <a:rPr lang="en-US" dirty="0"/>
              <a:t>❌ Still not exact</a:t>
            </a:r>
          </a:p>
          <a:p>
            <a:r>
              <a:rPr lang="en-US" dirty="0"/>
              <a:t>🗣️ Say:</a:t>
            </a:r>
            <a:br>
              <a:rPr lang="en-US" dirty="0"/>
            </a:br>
            <a:r>
              <a:rPr lang="en-US" dirty="0"/>
              <a:t>“Approximation algorithms give us fast solutions with a proven bound on how far we are from optimal.”</a:t>
            </a:r>
          </a:p>
          <a:p>
            <a:endParaRPr lang="en-US" dirty="0"/>
          </a:p>
          <a:p>
            <a:r>
              <a:rPr lang="en-US" b="1" dirty="0"/>
              <a:t>❌ Why NOT exact algorithms?</a:t>
            </a:r>
          </a:p>
          <a:p>
            <a:pPr>
              <a:buFont typeface="Arial" panose="020B0604020202020204" pitchFamily="34" charset="0"/>
              <a:buChar char="•"/>
            </a:pPr>
            <a:r>
              <a:rPr lang="en-US" dirty="0"/>
              <a:t>They guarantee the </a:t>
            </a:r>
            <a:r>
              <a:rPr lang="en-US" b="1" dirty="0"/>
              <a:t>best solution</a:t>
            </a:r>
            <a:r>
              <a:rPr lang="en-US" dirty="0"/>
              <a:t> </a:t>
            </a:r>
          </a:p>
          <a:p>
            <a:pPr>
              <a:buFont typeface="Arial" panose="020B0604020202020204" pitchFamily="34" charset="0"/>
              <a:buChar char="•"/>
            </a:pPr>
            <a:r>
              <a:rPr lang="en-US" dirty="0"/>
              <a:t>But: </a:t>
            </a:r>
          </a:p>
          <a:p>
            <a:pPr marL="742950" lvl="1" indent="-285750">
              <a:buFont typeface="Arial" panose="020B0604020202020204" pitchFamily="34" charset="0"/>
              <a:buChar char="•"/>
            </a:pPr>
            <a:r>
              <a:rPr lang="en-US" dirty="0"/>
              <a:t>Time complexity ≈ O(2n)O(2^n)O(2n) </a:t>
            </a:r>
          </a:p>
          <a:p>
            <a:pPr marL="742950" lvl="1" indent="-285750">
              <a:buFont typeface="Arial" panose="020B0604020202020204" pitchFamily="34" charset="0"/>
              <a:buChar char="•"/>
            </a:pPr>
            <a:r>
              <a:rPr lang="en-US" dirty="0"/>
              <a:t>Becomes </a:t>
            </a:r>
            <a:r>
              <a:rPr lang="en-US" b="1" dirty="0"/>
              <a:t>too slow very quickly</a:t>
            </a:r>
            <a:r>
              <a:rPr lang="en-US" dirty="0"/>
              <a:t> </a:t>
            </a:r>
          </a:p>
          <a:p>
            <a:r>
              <a:rPr lang="en-US" dirty="0"/>
              <a:t>🗣️ Say:</a:t>
            </a:r>
            <a:br>
              <a:rPr lang="en-US" dirty="0"/>
            </a:br>
            <a:r>
              <a:rPr lang="en-US" dirty="0"/>
              <a:t>“Exact algorithms are impractical for large problem sizes because they take too long to run.”</a:t>
            </a:r>
          </a:p>
          <a:p>
            <a:endParaRPr lang="en-US" dirty="0"/>
          </a:p>
          <a:p>
            <a:endParaRPr lang="en-US" dirty="0"/>
          </a:p>
        </p:txBody>
      </p:sp>
      <p:sp>
        <p:nvSpPr>
          <p:cNvPr id="4" name="Slide Number Placeholder 3"/>
          <p:cNvSpPr>
            <a:spLocks noGrp="1"/>
          </p:cNvSpPr>
          <p:nvPr>
            <p:ph type="sldNum" sz="quarter" idx="5"/>
          </p:nvPr>
        </p:nvSpPr>
        <p:spPr/>
        <p:txBody>
          <a:bodyPr/>
          <a:lstStyle/>
          <a:p>
            <a:fld id="{8EFF90DA-3246-4920-9D9C-B43869309475}" type="slidenum">
              <a:rPr lang="en-US" smtClean="0"/>
              <a:t>4</a:t>
            </a:fld>
            <a:endParaRPr lang="en-US"/>
          </a:p>
        </p:txBody>
      </p:sp>
    </p:spTree>
    <p:extLst>
      <p:ext uri="{BB962C8B-B14F-4D97-AF65-F5344CB8AC3E}">
        <p14:creationId xmlns:p14="http://schemas.microsoft.com/office/powerpoint/2010/main" val="3124037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Algorithm: Finds the 100% best solution but takes effectively "forever" as the problem size grows.</a:t>
            </a:r>
          </a:p>
          <a:p>
            <a:endParaRPr lang="en-US" dirty="0"/>
          </a:p>
          <a:p>
            <a:r>
              <a:rPr lang="en-US" dirty="0"/>
              <a:t>Approximation Algorithm: Finds a solution that might be, say, within 10% or 20% of the best possible result, but does it in seconds.</a:t>
            </a:r>
          </a:p>
          <a:p>
            <a:endParaRPr lang="en-US" dirty="0"/>
          </a:p>
          <a:p>
            <a:endParaRPr lang="en-US" dirty="0"/>
          </a:p>
          <a:p>
            <a:r>
              <a:rPr lang="en-US" dirty="0">
                <a:effectLst/>
                <a:latin typeface="Google Sans Text"/>
              </a:rPr>
              <a:t>The fundamental motivation is the $P \ne NP$ problem; if we insist on exact optimality for NP-hard problems, the time complexity becomes exponential ($O(2^n)$)</a:t>
            </a:r>
          </a:p>
          <a:p>
            <a:endParaRPr lang="en-US" dirty="0">
              <a:effectLst/>
              <a:latin typeface="Google Sans Text"/>
            </a:endParaRPr>
          </a:p>
          <a:p>
            <a:r>
              <a:rPr lang="en-US" dirty="0"/>
              <a:t>meaning we know exactly how close it is to the perfect answer</a:t>
            </a:r>
          </a:p>
        </p:txBody>
      </p:sp>
      <p:sp>
        <p:nvSpPr>
          <p:cNvPr id="4" name="Slide Number Placeholder 3"/>
          <p:cNvSpPr>
            <a:spLocks noGrp="1"/>
          </p:cNvSpPr>
          <p:nvPr>
            <p:ph type="sldNum" sz="quarter" idx="5"/>
          </p:nvPr>
        </p:nvSpPr>
        <p:spPr/>
        <p:txBody>
          <a:bodyPr/>
          <a:lstStyle/>
          <a:p>
            <a:fld id="{8EFF90DA-3246-4920-9D9C-B43869309475}" type="slidenum">
              <a:rPr lang="en-US" smtClean="0"/>
              <a:t>5</a:t>
            </a:fld>
            <a:endParaRPr lang="en-US"/>
          </a:p>
        </p:txBody>
      </p:sp>
    </p:spTree>
    <p:extLst>
      <p:ext uri="{BB962C8B-B14F-4D97-AF65-F5344CB8AC3E}">
        <p14:creationId xmlns:p14="http://schemas.microsoft.com/office/powerpoint/2010/main" val="3981544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Algorithm: Finds the 100% best solution but takes effectively "forever" as the problem size grows.</a:t>
            </a:r>
          </a:p>
          <a:p>
            <a:endParaRPr lang="en-US" dirty="0"/>
          </a:p>
          <a:p>
            <a:r>
              <a:rPr lang="en-US" dirty="0"/>
              <a:t>Approximation Algorithm: Finds a solution that might be, say, within 10% or 20% of the best possible result, but does it in seconds.</a:t>
            </a:r>
          </a:p>
        </p:txBody>
      </p:sp>
      <p:sp>
        <p:nvSpPr>
          <p:cNvPr id="4" name="Slide Number Placeholder 3"/>
          <p:cNvSpPr>
            <a:spLocks noGrp="1"/>
          </p:cNvSpPr>
          <p:nvPr>
            <p:ph type="sldNum" sz="quarter" idx="5"/>
          </p:nvPr>
        </p:nvSpPr>
        <p:spPr/>
        <p:txBody>
          <a:bodyPr/>
          <a:lstStyle/>
          <a:p>
            <a:fld id="{8EFF90DA-3246-4920-9D9C-B43869309475}" type="slidenum">
              <a:rPr lang="en-US" smtClean="0"/>
              <a:t>6</a:t>
            </a:fld>
            <a:endParaRPr lang="en-US"/>
          </a:p>
        </p:txBody>
      </p:sp>
    </p:spTree>
    <p:extLst>
      <p:ext uri="{BB962C8B-B14F-4D97-AF65-F5344CB8AC3E}">
        <p14:creationId xmlns:p14="http://schemas.microsoft.com/office/powerpoint/2010/main" val="3931073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a simple example of a vertex cover approximation.</a:t>
            </a:r>
          </a:p>
          <a:p>
            <a:r>
              <a:rPr lang="en-US" dirty="0"/>
              <a:t>We’re given a graph with several edges, and our goal is to pick the </a:t>
            </a:r>
            <a:r>
              <a:rPr lang="en-US" i="1" dirty="0"/>
              <a:t>smallest number of vertices</a:t>
            </a:r>
            <a:r>
              <a:rPr lang="en-US" dirty="0"/>
              <a:t> such that every edge is connected to at least one of those vertices.</a:t>
            </a:r>
          </a:p>
          <a:p>
            <a:r>
              <a:rPr lang="en-US" dirty="0"/>
              <a:t>Instead of trying to find the perfect solution—which can be very slow—we use a </a:t>
            </a:r>
            <a:r>
              <a:rPr lang="en-US" b="1" dirty="0"/>
              <a:t>greedy approach</a:t>
            </a:r>
            <a:r>
              <a:rPr lang="en-US" dirty="0"/>
              <a:t>.</a:t>
            </a:r>
          </a:p>
          <a:p>
            <a:r>
              <a:rPr lang="en-US" dirty="0"/>
              <a:t>First, we pick a set of edges that don’t overlap. In this example, we choose the edges (1,2) and (3,5). These edges don’t share any vertices, so they’re safe to pick together.</a:t>
            </a:r>
          </a:p>
          <a:p>
            <a:r>
              <a:rPr lang="en-US" dirty="0"/>
              <a:t>Then, for each selected edge, we add both of its endpoints to our vertex cover. So from (1,2) we add 1 and 2, and from (3,5) we add 3 and 5. That gives us the set {1, 2, 3, 5}, which has size 4.</a:t>
            </a:r>
          </a:p>
          <a:p>
            <a:r>
              <a:rPr lang="en-US" dirty="0"/>
              <a:t>Now, if we compare this to the optimal solution, the smallest possible vertex cover is actually just {2, 3}, which has size 2.</a:t>
            </a:r>
          </a:p>
          <a:p>
            <a:r>
              <a:rPr lang="en-US" dirty="0"/>
              <a:t>So our solution is twice as large as the optimal one. This gives us an approximation ratio of 2.</a:t>
            </a:r>
          </a:p>
          <a:p>
            <a:r>
              <a:rPr lang="en-US" dirty="0"/>
              <a:t>And that’s the key idea: even though we didn’t find the perfect solution, we found one quickly, and we can guarantee it’s at most twice as large as the optimal. That’s what makes this algorithm efficient and useful in practice.”</a:t>
            </a:r>
          </a:p>
          <a:p>
            <a:endParaRPr lang="en-US" dirty="0"/>
          </a:p>
        </p:txBody>
      </p:sp>
      <p:sp>
        <p:nvSpPr>
          <p:cNvPr id="4" name="Slide Number Placeholder 3"/>
          <p:cNvSpPr>
            <a:spLocks noGrp="1"/>
          </p:cNvSpPr>
          <p:nvPr>
            <p:ph type="sldNum" sz="quarter" idx="5"/>
          </p:nvPr>
        </p:nvSpPr>
        <p:spPr/>
        <p:txBody>
          <a:bodyPr/>
          <a:lstStyle/>
          <a:p>
            <a:fld id="{8EFF90DA-3246-4920-9D9C-B43869309475}" type="slidenum">
              <a:rPr lang="en-US" smtClean="0"/>
              <a:t>7</a:t>
            </a:fld>
            <a:endParaRPr lang="en-US"/>
          </a:p>
        </p:txBody>
      </p:sp>
    </p:spTree>
    <p:extLst>
      <p:ext uri="{BB962C8B-B14F-4D97-AF65-F5344CB8AC3E}">
        <p14:creationId xmlns:p14="http://schemas.microsoft.com/office/powerpoint/2010/main" val="2680518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Why heuristic algorithms?</a:t>
            </a:r>
          </a:p>
          <a:p>
            <a:pPr>
              <a:buFont typeface="Arial" panose="020B0604020202020204" pitchFamily="34" charset="0"/>
              <a:buChar char="•"/>
            </a:pPr>
            <a:r>
              <a:rPr lang="en-US" dirty="0"/>
              <a:t>Give </a:t>
            </a:r>
            <a:r>
              <a:rPr lang="en-US" b="1" dirty="0"/>
              <a:t>good solutions quickly</a:t>
            </a:r>
            <a:r>
              <a:rPr lang="en-US" dirty="0"/>
              <a:t> </a:t>
            </a:r>
          </a:p>
          <a:p>
            <a:pPr>
              <a:buFont typeface="Arial" panose="020B0604020202020204" pitchFamily="34" charset="0"/>
              <a:buChar char="•"/>
            </a:pPr>
            <a:r>
              <a:rPr lang="en-US" dirty="0"/>
              <a:t>Use simple rules (greedy, local decisions) </a:t>
            </a:r>
          </a:p>
          <a:p>
            <a:r>
              <a:rPr lang="en-US" dirty="0"/>
              <a:t>✔ Fast</a:t>
            </a:r>
            <a:br>
              <a:rPr lang="en-US" dirty="0"/>
            </a:br>
            <a:r>
              <a:rPr lang="en-US" dirty="0"/>
              <a:t>❌ Not always optimal</a:t>
            </a:r>
          </a:p>
          <a:p>
            <a:r>
              <a:rPr lang="en-US" dirty="0"/>
              <a:t>🗣️ Say:</a:t>
            </a:r>
            <a:br>
              <a:rPr lang="en-US" dirty="0"/>
            </a:br>
            <a:r>
              <a:rPr lang="en-US" dirty="0"/>
              <a:t>“Heuristics sacrifice optimality to get fast, practical solutions.”</a:t>
            </a:r>
          </a:p>
          <a:p>
            <a:endParaRPr lang="en-US" dirty="0"/>
          </a:p>
        </p:txBody>
      </p:sp>
      <p:sp>
        <p:nvSpPr>
          <p:cNvPr id="4" name="Slide Number Placeholder 3"/>
          <p:cNvSpPr>
            <a:spLocks noGrp="1"/>
          </p:cNvSpPr>
          <p:nvPr>
            <p:ph type="sldNum" sz="quarter" idx="5"/>
          </p:nvPr>
        </p:nvSpPr>
        <p:spPr/>
        <p:txBody>
          <a:bodyPr/>
          <a:lstStyle/>
          <a:p>
            <a:fld id="{8EFF90DA-3246-4920-9D9C-B43869309475}" type="slidenum">
              <a:rPr lang="en-US" smtClean="0"/>
              <a:t>8</a:t>
            </a:fld>
            <a:endParaRPr lang="en-US"/>
          </a:p>
        </p:txBody>
      </p:sp>
    </p:spTree>
    <p:extLst>
      <p:ext uri="{BB962C8B-B14F-4D97-AF65-F5344CB8AC3E}">
        <p14:creationId xmlns:p14="http://schemas.microsoft.com/office/powerpoint/2010/main" val="304297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heuristic algorithm</a:t>
            </a:r>
            <a:r>
              <a:rPr lang="en-US" dirty="0"/>
              <a:t> is a problem-solving method that finds a </a:t>
            </a:r>
            <a:r>
              <a:rPr lang="en-US" b="1" dirty="0"/>
              <a:t>good, practical solution quickly</a:t>
            </a:r>
            <a:r>
              <a:rPr lang="en-US" dirty="0"/>
              <a:t>, but </a:t>
            </a:r>
            <a:r>
              <a:rPr lang="en-US" b="1" dirty="0"/>
              <a:t>does not guarantee the best (optimal) answer</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constructive heuristic</a:t>
            </a:r>
            <a:r>
              <a:rPr lang="en-US" dirty="0"/>
              <a:t> is a type of heuristic algorithm that </a:t>
            </a:r>
            <a:r>
              <a:rPr lang="en-US" b="1" dirty="0"/>
              <a:t>builds a solution step by step from scratch</a:t>
            </a:r>
            <a:r>
              <a:rPr lang="en-US" dirty="0"/>
              <a:t>, making a locally good choice at each step until a complete solution is formed.</a:t>
            </a:r>
          </a:p>
          <a:p>
            <a:endParaRPr lang="en-US" dirty="0"/>
          </a:p>
        </p:txBody>
      </p:sp>
      <p:sp>
        <p:nvSpPr>
          <p:cNvPr id="4" name="Slide Number Placeholder 3"/>
          <p:cNvSpPr>
            <a:spLocks noGrp="1"/>
          </p:cNvSpPr>
          <p:nvPr>
            <p:ph type="sldNum" sz="quarter" idx="5"/>
          </p:nvPr>
        </p:nvSpPr>
        <p:spPr/>
        <p:txBody>
          <a:bodyPr/>
          <a:lstStyle/>
          <a:p>
            <a:fld id="{8EFF90DA-3246-4920-9D9C-B43869309475}" type="slidenum">
              <a:rPr lang="en-US" smtClean="0"/>
              <a:t>10</a:t>
            </a:fld>
            <a:endParaRPr lang="en-US"/>
          </a:p>
        </p:txBody>
      </p:sp>
    </p:spTree>
    <p:extLst>
      <p:ext uri="{BB962C8B-B14F-4D97-AF65-F5344CB8AC3E}">
        <p14:creationId xmlns:p14="http://schemas.microsoft.com/office/powerpoint/2010/main" val="1621550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Why metaheuristics?</a:t>
            </a:r>
          </a:p>
          <a:p>
            <a:pPr>
              <a:buFont typeface="Arial" panose="020B0604020202020204" pitchFamily="34" charset="0"/>
              <a:buChar char="•"/>
            </a:pPr>
            <a:r>
              <a:rPr lang="en-US" dirty="0"/>
              <a:t>Heuristics can get </a:t>
            </a:r>
            <a:r>
              <a:rPr lang="en-US" b="1" dirty="0"/>
              <a:t>stuck in bad solutions</a:t>
            </a:r>
            <a:r>
              <a:rPr lang="en-US" dirty="0"/>
              <a:t> </a:t>
            </a:r>
          </a:p>
          <a:p>
            <a:pPr>
              <a:buFont typeface="Arial" panose="020B0604020202020204" pitchFamily="34" charset="0"/>
              <a:buChar char="•"/>
            </a:pPr>
            <a:r>
              <a:rPr lang="en-US" dirty="0"/>
              <a:t>Metaheuristics are </a:t>
            </a:r>
            <a:r>
              <a:rPr lang="en-US" b="1" dirty="0"/>
              <a:t>smarter frameworks</a:t>
            </a:r>
            <a:r>
              <a:rPr lang="en-US" dirty="0"/>
              <a:t> that guide the search </a:t>
            </a:r>
          </a:p>
          <a:p>
            <a:r>
              <a:rPr lang="en-US" dirty="0"/>
              <a:t>Examples:</a:t>
            </a:r>
          </a:p>
          <a:p>
            <a:pPr>
              <a:buFont typeface="Arial" panose="020B0604020202020204" pitchFamily="34" charset="0"/>
              <a:buChar char="•"/>
            </a:pPr>
            <a:r>
              <a:rPr lang="en-US" dirty="0"/>
              <a:t>Genetic Algorithms </a:t>
            </a:r>
          </a:p>
          <a:p>
            <a:pPr>
              <a:buFont typeface="Arial" panose="020B0604020202020204" pitchFamily="34" charset="0"/>
              <a:buChar char="•"/>
            </a:pPr>
            <a:r>
              <a:rPr lang="en-US" dirty="0"/>
              <a:t>Simulated Annealing </a:t>
            </a:r>
          </a:p>
          <a:p>
            <a:r>
              <a:rPr lang="en-US" dirty="0"/>
              <a:t>✔ Explore better solutions</a:t>
            </a:r>
            <a:br>
              <a:rPr lang="en-US" dirty="0"/>
            </a:br>
            <a:r>
              <a:rPr lang="en-US" dirty="0"/>
              <a:t>✔ Avoid getting stuck</a:t>
            </a:r>
            <a:br>
              <a:rPr lang="en-US" dirty="0"/>
            </a:br>
            <a:r>
              <a:rPr lang="en-US" dirty="0"/>
              <a:t>❌ Still not guaranteed optimal</a:t>
            </a:r>
          </a:p>
          <a:p>
            <a:r>
              <a:rPr lang="en-US"/>
              <a:t>🗣️ Say:</a:t>
            </a:r>
            <a:br>
              <a:rPr lang="en-US"/>
            </a:br>
            <a:r>
              <a:rPr lang="en-US"/>
              <a:t>“Metaheuristics improve heuristics by exploring the solution space more intelligently.”</a:t>
            </a:r>
          </a:p>
          <a:p>
            <a:endParaRPr lang="en-US"/>
          </a:p>
        </p:txBody>
      </p:sp>
      <p:sp>
        <p:nvSpPr>
          <p:cNvPr id="4" name="Slide Number Placeholder 3"/>
          <p:cNvSpPr>
            <a:spLocks noGrp="1"/>
          </p:cNvSpPr>
          <p:nvPr>
            <p:ph type="sldNum" sz="quarter" idx="5"/>
          </p:nvPr>
        </p:nvSpPr>
        <p:spPr/>
        <p:txBody>
          <a:bodyPr/>
          <a:lstStyle/>
          <a:p>
            <a:fld id="{8EFF90DA-3246-4920-9D9C-B43869309475}" type="slidenum">
              <a:rPr lang="en-US" smtClean="0"/>
              <a:t>12</a:t>
            </a:fld>
            <a:endParaRPr lang="en-US"/>
          </a:p>
        </p:txBody>
      </p:sp>
    </p:spTree>
    <p:extLst>
      <p:ext uri="{BB962C8B-B14F-4D97-AF65-F5344CB8AC3E}">
        <p14:creationId xmlns:p14="http://schemas.microsoft.com/office/powerpoint/2010/main" val="3631904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4"/>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2"/>
              <a:stretch>
                <a:fillRect t="-29" b="-29"/>
              </a:stretch>
            </a:blipFill>
          </p:spPr>
        </p:sp>
      </p:grpSp>
      <p:sp>
        <p:nvSpPr>
          <p:cNvPr id="4" name="Freeform 4"/>
          <p:cNvSpPr/>
          <p:nvPr/>
        </p:nvSpPr>
        <p:spPr>
          <a:xfrm>
            <a:off x="12914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5273898" y="9797644"/>
            <a:ext cx="2418473" cy="413156"/>
          </a:xfrm>
          <a:custGeom>
            <a:avLst/>
            <a:gdLst/>
            <a:ahLst/>
            <a:cxnLst/>
            <a:rect l="l" t="t" r="r" b="b"/>
            <a:pathLst>
              <a:path w="2418473" h="413156">
                <a:moveTo>
                  <a:pt x="0" y="0"/>
                </a:moveTo>
                <a:lnTo>
                  <a:pt x="2418474" y="0"/>
                </a:lnTo>
                <a:lnTo>
                  <a:pt x="2418474" y="413156"/>
                </a:lnTo>
                <a:lnTo>
                  <a:pt x="0" y="413156"/>
                </a:lnTo>
                <a:lnTo>
                  <a:pt x="0" y="0"/>
                </a:lnTo>
                <a:close/>
              </a:path>
            </a:pathLst>
          </a:custGeom>
          <a:blipFill>
            <a:blip r:embed="rId3"/>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729</Words>
  <Application>Microsoft Office PowerPoint</Application>
  <PresentationFormat>Custom</PresentationFormat>
  <Paragraphs>62</Paragraphs>
  <Slides>22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Google Sans Text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Optimization_Methodologies_Synthesis.pptx</dc:title>
  <cp:lastModifiedBy>Amin AD</cp:lastModifiedBy>
  <cp:revision>4</cp:revision>
  <dcterms:created xsi:type="dcterms:W3CDTF">2006-08-16T00:00:00Z</dcterms:created>
  <dcterms:modified xsi:type="dcterms:W3CDTF">2026-04-10T06:42:32Z</dcterms:modified>
  <dc:identifier>DAHGXhJc_ro</dc:identifier>
</cp:coreProperties>
</file>